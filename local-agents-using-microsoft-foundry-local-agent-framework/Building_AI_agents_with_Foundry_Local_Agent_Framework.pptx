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room. Frame it up front: this is a field report, not a product tour. A third of this talk is what broke.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intro — keep it to 60 seconds. Who you are, what you build, and why this topic. Drag your photo onto the slot before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Ask the room before answering — most people reach for cost first, and cost is the less interesting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 that decide it before any benchmark: the data legally cannot leave the machine, and the economics of local execution are flat. Everything after this is downstream of these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runtime plainly before the diagram. The second paragraph is the whole pitch: drop-in replacement, no code restructuring.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introduction before the division-of-labour slide. The third capability is the one that matters here — it binds straight to Foundry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Division of labour: Foundry Local runs the model, Agent Framework orchestrates. Provider-agnostic — local-first is a deployment decision, not an architectural commitment.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situations where the pairing earns its keep. The first two are constraint-driven, the last two are economics — most teams arrive via one and stay for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Repeat each question for the room before answering.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room. Point to the Substack and LinkedIn, and the QR to get started tonight.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36106"/>
            <a:ext cx="1760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8B9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855244"/>
            <a:ext cx="176022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75" kern="0" dirty="0">
                <a:solidFill>
                  <a:srgbClr val="9C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AI Agents with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143000" y="4402931"/>
            <a:ext cx="16482060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96"/>
              </a:lnSpc>
              <a:buNone/>
            </a:pPr>
            <a:r>
              <a:rPr lang="en-US" sz="7500" b="1" spc="-225" kern="0" dirty="0">
                <a:solidFill>
                  <a:srgbClr val="5E9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Local </a:t>
            </a:r>
            <a:pPr algn="l" indent="0" marL="0">
              <a:lnSpc>
                <a:spcPct val="88696"/>
              </a:lnSpc>
              <a:buNone/>
            </a:pPr>
            <a:r>
              <a:rPr lang="en-US" sz="7500" spc="-225" kern="0" dirty="0">
                <a:solidFill>
                  <a:srgbClr val="7E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lnSpc>
                <a:spcPct val="88696"/>
              </a:lnSpc>
              <a:buNone/>
            </a:pPr>
            <a:r>
              <a:rPr lang="en-US" sz="7500" b="1" spc="-225" kern="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1143000" y="8724900"/>
            <a:ext cx="57150" cy="7048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B0F5">
                  <a:alpha val="100000"/>
                </a:srgbClr>
              </a:gs>
              <a:gs pos="100000">
                <a:srgbClr val="C4685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428750" y="8736806"/>
            <a:ext cx="2385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Manish Lad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9127331"/>
            <a:ext cx="23854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Manager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5011251" y="838200"/>
            <a:ext cx="2152799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4901044" y="704850"/>
            <a:ext cx="2263006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047750" y="2990850"/>
            <a:ext cx="4000500" cy="40005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16667" r="16667" t="0" b="0"/>
          <a:stretch/>
        </p:blipFill>
        <p:spPr>
          <a:xfrm>
            <a:off x="1047750" y="2990850"/>
            <a:ext cx="4000500" cy="4000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43175" y="72390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5E97F0"/>
          </a:solidFill>
          <a:ln/>
        </p:spPr>
      </p:sp>
      <p:sp>
        <p:nvSpPr>
          <p:cNvPr id="7" name="Shape 3"/>
          <p:cNvSpPr/>
          <p:nvPr/>
        </p:nvSpPr>
        <p:spPr>
          <a:xfrm>
            <a:off x="3114675" y="72390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B5544A"/>
          </a:solidFill>
          <a:ln/>
        </p:spPr>
      </p:sp>
      <p:sp>
        <p:nvSpPr>
          <p:cNvPr id="8" name="Text 4"/>
          <p:cNvSpPr/>
          <p:nvPr/>
        </p:nvSpPr>
        <p:spPr>
          <a:xfrm>
            <a:off x="5905500" y="2723927"/>
            <a:ext cx="124682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— I'M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905500" y="3157314"/>
            <a:ext cx="12468225" cy="89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57"/>
              </a:lnSpc>
              <a:buNone/>
            </a:pPr>
            <a:r>
              <a:rPr lang="en-US" sz="6900" b="1" spc="-150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Manish Lad</a:t>
            </a:r>
            <a:endParaRPr lang="en-US" sz="6900" dirty="0"/>
          </a:p>
        </p:txBody>
      </p:sp>
      <p:sp>
        <p:nvSpPr>
          <p:cNvPr id="10" name="Text 6"/>
          <p:cNvSpPr/>
          <p:nvPr/>
        </p:nvSpPr>
        <p:spPr>
          <a:xfrm>
            <a:off x="5905500" y="4149403"/>
            <a:ext cx="124682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A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Manager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5905500" y="4944740"/>
            <a:ext cx="177701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5E9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197501" y="4954265"/>
            <a:ext cx="6122828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years of experience, 6+ working with AI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5905500" y="5527625"/>
            <a:ext cx="177701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B55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197501" y="5537150"/>
            <a:ext cx="6339507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volunteering with Pune User Group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5905500" y="6110511"/>
            <a:ext cx="177701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5E9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197501" y="6120036"/>
            <a:ext cx="7568304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write about AI × product strategy — for builders and leaders.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5905500" y="7263036"/>
            <a:ext cx="48280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substack </a:t>
            </a:r>
            <a:pPr algn="l" indent="0" marL="0">
              <a:buNone/>
            </a:pPr>
            <a:r>
              <a:rPr lang="en-US" sz="1800" dirty="0">
                <a:solidFill>
                  <a:srgbClr val="6A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manishlad.substack.com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675665" y="7263036"/>
            <a:ext cx="226322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buNone/>
            </a:pPr>
            <a:r>
              <a:rPr lang="en-US" sz="1800" dirty="0">
                <a:solidFill>
                  <a:srgbClr val="6A6E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/manish-lad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5011251" y="704850"/>
            <a:ext cx="2152799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B9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4502274"/>
            <a:ext cx="15716250" cy="132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579"/>
              </a:lnSpc>
              <a:buNone/>
            </a:pPr>
            <a:r>
              <a:rPr lang="en-US" sz="9900" b="1" spc="-300" kern="0" dirty="0">
                <a:solidFill>
                  <a:srgbClr val="F5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</a:t>
            </a:r>
            <a:pPr algn="l" indent="0" marL="0">
              <a:lnSpc>
                <a:spcPct val="88579"/>
              </a:lnSpc>
              <a:buNone/>
            </a:pPr>
            <a:r>
              <a:rPr lang="en-US" sz="9900" b="1" spc="-300" kern="0" dirty="0">
                <a:solidFill>
                  <a:srgbClr val="5E9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</a:t>
            </a:r>
            <a:pPr algn="l" indent="0" marL="0">
              <a:lnSpc>
                <a:spcPct val="88579"/>
              </a:lnSpc>
              <a:buNone/>
            </a:pPr>
            <a:r>
              <a:rPr lang="en-US" sz="9900" b="1" spc="-300" kern="0" dirty="0">
                <a:solidFill>
                  <a:srgbClr val="F5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4901044" y="704850"/>
            <a:ext cx="2263006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2458417"/>
            <a:ext cx="146685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150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 local-first?</a:t>
            </a:r>
            <a:endParaRPr lang="en-US" sz="6600" dirty="0"/>
          </a:p>
        </p:txBody>
      </p:sp>
      <p:sp>
        <p:nvSpPr>
          <p:cNvPr id="5" name="Shape 2"/>
          <p:cNvSpPr/>
          <p:nvPr/>
        </p:nvSpPr>
        <p:spPr>
          <a:xfrm>
            <a:off x="1143000" y="3948112"/>
            <a:ext cx="7791450" cy="38804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" y="7819058"/>
            <a:ext cx="7791450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3948112"/>
            <a:ext cx="7791450" cy="57150"/>
          </a:xfrm>
          <a:prstGeom prst="rect">
            <a:avLst/>
          </a:prstGeom>
          <a:solidFill>
            <a:srgbClr val="5E97F0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3948112"/>
            <a:ext cx="9525" cy="3880470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9" name="Shape 6"/>
          <p:cNvSpPr/>
          <p:nvPr/>
        </p:nvSpPr>
        <p:spPr>
          <a:xfrm>
            <a:off x="8924925" y="3948112"/>
            <a:ext cx="9525" cy="3880470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0" name="Text 7"/>
          <p:cNvSpPr/>
          <p:nvPr/>
        </p:nvSpPr>
        <p:spPr>
          <a:xfrm>
            <a:off x="1590675" y="4462463"/>
            <a:ext cx="7585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90675" y="4953000"/>
            <a:ext cx="7585710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762"/>
              </a:lnSpc>
              <a:buNone/>
            </a:pPr>
            <a:r>
              <a:rPr lang="en-US" sz="3450" b="1" spc="-75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&amp; compliance</a:t>
            </a:r>
            <a:endParaRPr lang="en-US" sz="3450" dirty="0"/>
          </a:p>
        </p:txBody>
      </p:sp>
      <p:sp>
        <p:nvSpPr>
          <p:cNvPr id="12" name="Text 9"/>
          <p:cNvSpPr/>
          <p:nvPr/>
        </p:nvSpPr>
        <p:spPr>
          <a:xfrm>
            <a:off x="1590675" y="5704508"/>
            <a:ext cx="7102983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4A4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sensitive enterprise documents, healthcare data, or PII completely on-device. Zero network transmissions mean guaranteed compliance with air-gapped security requirements.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9353550" y="3948112"/>
            <a:ext cx="7791450" cy="38804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9353550" y="7819058"/>
            <a:ext cx="7791450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5" name="Shape 12"/>
          <p:cNvSpPr/>
          <p:nvPr/>
        </p:nvSpPr>
        <p:spPr>
          <a:xfrm>
            <a:off x="9353550" y="3948112"/>
            <a:ext cx="7791450" cy="57150"/>
          </a:xfrm>
          <a:prstGeom prst="rect">
            <a:avLst/>
          </a:prstGeom>
          <a:solidFill>
            <a:srgbClr val="5E97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353550" y="3948112"/>
            <a:ext cx="9525" cy="3880470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7" name="Shape 14"/>
          <p:cNvSpPr/>
          <p:nvPr/>
        </p:nvSpPr>
        <p:spPr>
          <a:xfrm>
            <a:off x="17135475" y="3948112"/>
            <a:ext cx="9525" cy="3880470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8" name="Text 15"/>
          <p:cNvSpPr/>
          <p:nvPr/>
        </p:nvSpPr>
        <p:spPr>
          <a:xfrm>
            <a:off x="9801225" y="4462463"/>
            <a:ext cx="7585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801225" y="4953000"/>
            <a:ext cx="7585710" cy="54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762"/>
              </a:lnSpc>
              <a:buNone/>
            </a:pPr>
            <a:r>
              <a:rPr lang="en-US" sz="3450" b="1" spc="-75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latency &amp; predictable cost</a:t>
            </a:r>
            <a:endParaRPr lang="en-US" sz="3450" dirty="0"/>
          </a:p>
        </p:txBody>
      </p:sp>
      <p:sp>
        <p:nvSpPr>
          <p:cNvPr id="20" name="Text 17"/>
          <p:cNvSpPr/>
          <p:nvPr/>
        </p:nvSpPr>
        <p:spPr>
          <a:xfrm>
            <a:off x="9801225" y="5704508"/>
            <a:ext cx="7102983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4A4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cloud network round-trips and API rate limits. Achieve sub-10ms local token execution with standard zero recurring cloud API token costs.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4901044" y="704850"/>
            <a:ext cx="2263006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2809875"/>
            <a:ext cx="157162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6000" b="1" spc="-150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Local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1143000" y="3990975"/>
            <a:ext cx="1143000" cy="57150"/>
          </a:xfrm>
          <a:prstGeom prst="rect">
            <a:avLst/>
          </a:prstGeom>
          <a:solidFill>
            <a:srgbClr val="5E97F0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4543425"/>
            <a:ext cx="1451991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07"/>
              </a:lnSpc>
              <a:buNone/>
            </a:pPr>
            <a:r>
              <a:rPr lang="en-US" sz="2700" dirty="0">
                <a:solidFill>
                  <a:srgbClr val="3A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Local provides lightweight, high-performance local AI runtime for running open models (like Phi-4 and Mistral) directly on developer machines and edge hardware.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143000" y="6448425"/>
            <a:ext cx="145199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07"/>
              </a:lnSpc>
              <a:buNone/>
            </a:pPr>
            <a:r>
              <a:rPr lang="en-US" sz="2700" dirty="0">
                <a:solidFill>
                  <a:srgbClr val="3A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exposes standard OpenAI-compatible endpoints seamlessly, enabling drop-in local replacements for cloud LLMs without altering agent code structure.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4901044" y="704850"/>
            <a:ext cx="2263006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2394124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spc="-150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Agent Framework</a:t>
            </a:r>
            <a:endParaRPr lang="en-US" sz="5700" dirty="0"/>
          </a:p>
        </p:txBody>
      </p:sp>
      <p:sp>
        <p:nvSpPr>
          <p:cNvPr id="5" name="Shape 2"/>
          <p:cNvSpPr/>
          <p:nvPr/>
        </p:nvSpPr>
        <p:spPr>
          <a:xfrm>
            <a:off x="1143000" y="3478039"/>
            <a:ext cx="1143000" cy="57150"/>
          </a:xfrm>
          <a:prstGeom prst="rect">
            <a:avLst/>
          </a:prstGeom>
          <a:solidFill>
            <a:srgbClr val="5E97F0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3954289"/>
            <a:ext cx="145199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07"/>
              </a:lnSpc>
              <a:buNone/>
            </a:pPr>
            <a:r>
              <a:rPr lang="en-US" sz="2700" dirty="0">
                <a:solidFill>
                  <a:srgbClr val="3A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Microsoft Agent Framework provides structured primitives for building reliable, task-oriented LLM workflows and multi-agent systems.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143000" y="5478289"/>
            <a:ext cx="1760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6F73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43000" y="6025976"/>
            <a:ext cx="5130775" cy="1866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7883351"/>
            <a:ext cx="5130775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6025976"/>
            <a:ext cx="5130775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6025976"/>
            <a:ext cx="47625" cy="1866900"/>
          </a:xfrm>
          <a:prstGeom prst="rect">
            <a:avLst/>
          </a:prstGeom>
          <a:solidFill>
            <a:srgbClr val="5E97F0"/>
          </a:solidFill>
          <a:ln/>
        </p:spPr>
      </p:sp>
      <p:sp>
        <p:nvSpPr>
          <p:cNvPr id="12" name="Shape 9"/>
          <p:cNvSpPr/>
          <p:nvPr/>
        </p:nvSpPr>
        <p:spPr>
          <a:xfrm>
            <a:off x="6264250" y="6025976"/>
            <a:ext cx="9525" cy="1866900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3" name="Text 10"/>
          <p:cNvSpPr/>
          <p:nvPr/>
        </p:nvSpPr>
        <p:spPr>
          <a:xfrm>
            <a:off x="1495425" y="6359351"/>
            <a:ext cx="461794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state management and conversation routing.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6578575" y="6025976"/>
            <a:ext cx="5130775" cy="1866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8575" y="7883351"/>
            <a:ext cx="5130775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6" name="Shape 13"/>
          <p:cNvSpPr/>
          <p:nvPr/>
        </p:nvSpPr>
        <p:spPr>
          <a:xfrm>
            <a:off x="6578575" y="6025976"/>
            <a:ext cx="5130775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7" name="Shape 14"/>
          <p:cNvSpPr/>
          <p:nvPr/>
        </p:nvSpPr>
        <p:spPr>
          <a:xfrm>
            <a:off x="6578575" y="6025976"/>
            <a:ext cx="47625" cy="1866900"/>
          </a:xfrm>
          <a:prstGeom prst="rect">
            <a:avLst/>
          </a:prstGeom>
          <a:solidFill>
            <a:srgbClr val="5E97F0"/>
          </a:solidFill>
          <a:ln/>
        </p:spPr>
      </p:sp>
      <p:sp>
        <p:nvSpPr>
          <p:cNvPr id="18" name="Shape 15"/>
          <p:cNvSpPr/>
          <p:nvPr/>
        </p:nvSpPr>
        <p:spPr>
          <a:xfrm>
            <a:off x="11699825" y="6025976"/>
            <a:ext cx="9525" cy="1866900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19" name="Text 16"/>
          <p:cNvSpPr/>
          <p:nvPr/>
        </p:nvSpPr>
        <p:spPr>
          <a:xfrm>
            <a:off x="6931000" y="6359351"/>
            <a:ext cx="461794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tool calling and structured output extraction.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12014150" y="6025976"/>
            <a:ext cx="5130850" cy="1866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2014150" y="7883351"/>
            <a:ext cx="5130850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22" name="Shape 19"/>
          <p:cNvSpPr/>
          <p:nvPr/>
        </p:nvSpPr>
        <p:spPr>
          <a:xfrm>
            <a:off x="12014150" y="6025976"/>
            <a:ext cx="5130850" cy="9525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23" name="Shape 20"/>
          <p:cNvSpPr/>
          <p:nvPr/>
        </p:nvSpPr>
        <p:spPr>
          <a:xfrm>
            <a:off x="12014150" y="6025976"/>
            <a:ext cx="47625" cy="1866900"/>
          </a:xfrm>
          <a:prstGeom prst="rect">
            <a:avLst/>
          </a:prstGeom>
          <a:solidFill>
            <a:srgbClr val="5E97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7135475" y="6025976"/>
            <a:ext cx="9525" cy="1866900"/>
          </a:xfrm>
          <a:prstGeom prst="rect">
            <a:avLst/>
          </a:prstGeom>
          <a:solidFill>
            <a:srgbClr val="DEDBD4"/>
          </a:solidFill>
          <a:ln/>
        </p:spPr>
      </p:sp>
      <p:sp>
        <p:nvSpPr>
          <p:cNvPr id="25" name="Text 22"/>
          <p:cNvSpPr/>
          <p:nvPr/>
        </p:nvSpPr>
        <p:spPr>
          <a:xfrm>
            <a:off x="12366575" y="6359351"/>
            <a:ext cx="461802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binding to local inference runtimes.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4901044" y="704850"/>
            <a:ext cx="2263006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3163714"/>
            <a:ext cx="15304770" cy="2364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65"/>
              </a:lnSpc>
              <a:buNone/>
            </a:pPr>
            <a:r>
              <a:rPr lang="en-US" sz="5550" b="1" spc="-150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Local runs the model. Agent Framework orchestrates </a:t>
            </a:r>
            <a:pPr algn="l" indent="0" marL="0">
              <a:lnSpc>
                <a:spcPct val="95765"/>
              </a:lnSpc>
              <a:buNone/>
            </a:pPr>
            <a:r>
              <a:rPr lang="en-US" sz="5550" b="1" spc="-150" kern="0" dirty="0">
                <a:solidFill>
                  <a:srgbClr val="5E9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 with it </a:t>
            </a:r>
            <a:pPr algn="l" indent="0" marL="0">
              <a:lnSpc>
                <a:spcPct val="95765"/>
              </a:lnSpc>
              <a:buNone/>
            </a:pPr>
            <a:r>
              <a:rPr lang="en-US" sz="5550" b="1" spc="-150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550" dirty="0"/>
          </a:p>
        </p:txBody>
      </p:sp>
      <p:sp>
        <p:nvSpPr>
          <p:cNvPr id="5" name="Text 2"/>
          <p:cNvSpPr/>
          <p:nvPr/>
        </p:nvSpPr>
        <p:spPr>
          <a:xfrm>
            <a:off x="1143000" y="6023074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3A3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Agents, tool calling, conversation, workflows. Provider-agnostic — so local-first is a deployment decision, not an architectural commitment.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5011251" y="704850"/>
            <a:ext cx="2152799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B9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4050506"/>
            <a:ext cx="6136704" cy="222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0" spc="1800" kern="0" dirty="0">
                <a:solidFill>
                  <a:srgbClr val="5E9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4901044" y="704850"/>
            <a:ext cx="2263006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2314724"/>
            <a:ext cx="157162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84"/>
              </a:lnSpc>
              <a:buNone/>
            </a:pPr>
            <a:r>
              <a:rPr lang="en-US" sz="5400" b="1" spc="-150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combine framework &amp; local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1143000" y="3568154"/>
            <a:ext cx="7839075" cy="2040136"/>
          </a:xfrm>
          <a:prstGeom prst="rect">
            <a:avLst/>
          </a:prstGeom>
          <a:solidFill>
            <a:srgbClr val="FFFFFF"/>
          </a:solidFill>
          <a:ln w="9525">
            <a:solidFill>
              <a:srgbClr val="DE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76375" y="4001542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922190" y="3920579"/>
            <a:ext cx="444876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Privacy-sensitive workflows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476375" y="4482554"/>
            <a:ext cx="738749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4A4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Triage, summarize, or extract structured metadata from confidential legal or medical documents locally.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9305925" y="3568154"/>
            <a:ext cx="7839075" cy="2040136"/>
          </a:xfrm>
          <a:prstGeom prst="rect">
            <a:avLst/>
          </a:prstGeom>
          <a:solidFill>
            <a:srgbClr val="FFFFFF"/>
          </a:solidFill>
          <a:ln w="9525">
            <a:solidFill>
              <a:srgbClr val="DE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39300" y="4001542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85115" y="3920579"/>
            <a:ext cx="416071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/ edge deployment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9639300" y="4482554"/>
            <a:ext cx="738749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4A4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intelligent agents that run on field equipment, vessels, or air-gapped industrial networks.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143000" y="5932140"/>
            <a:ext cx="7839075" cy="2040136"/>
          </a:xfrm>
          <a:prstGeom prst="rect">
            <a:avLst/>
          </a:prstGeom>
          <a:solidFill>
            <a:srgbClr val="FFFFFF"/>
          </a:solidFill>
          <a:ln w="9525">
            <a:solidFill>
              <a:srgbClr val="DE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76375" y="6365528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922190" y="6284565"/>
            <a:ext cx="37162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at scale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476375" y="6846540"/>
            <a:ext cx="738749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4A4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repetitive bulk cloud LLM tasks with high-throughput local Small Language Models (SLMs).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305925" y="5932140"/>
            <a:ext cx="7839075" cy="2040136"/>
          </a:xfrm>
          <a:prstGeom prst="rect">
            <a:avLst/>
          </a:prstGeom>
          <a:solidFill>
            <a:srgbClr val="FFFFFF"/>
          </a:solidFill>
          <a:ln w="9525">
            <a:solidFill>
              <a:srgbClr val="DEDB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39300" y="6365528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085115" y="6284565"/>
            <a:ext cx="34699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17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local prototyping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9639300" y="6846540"/>
            <a:ext cx="738749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4A4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rapidly on agent tool definitions and prompt templates with zero latency and no cloud bill.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5011251" y="704850"/>
            <a:ext cx="2152799" cy="876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B9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3609975"/>
            <a:ext cx="17602200" cy="230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0" spc="1200" kern="0" dirty="0">
                <a:solidFill>
                  <a:srgbClr val="5E9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Q&amp;A</a:t>
            </a:r>
            <a:endParaRPr lang="en-US" sz="13500" dirty="0"/>
          </a:p>
        </p:txBody>
      </p:sp>
      <p:sp>
        <p:nvSpPr>
          <p:cNvPr id="5" name="Text 2"/>
          <p:cNvSpPr/>
          <p:nvPr/>
        </p:nvSpPr>
        <p:spPr>
          <a:xfrm>
            <a:off x="1143000" y="6215063"/>
            <a:ext cx="176022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C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to you.</a:t>
            </a:r>
            <a:endParaRPr lang="en-US" sz="2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9763"/>
            <a:ext cx="53246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B9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PUG Tech Talk · August 22,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156793"/>
            <a:ext cx="85863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8B9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09231"/>
            <a:ext cx="8586393" cy="89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57"/>
              </a:lnSpc>
              <a:buNone/>
            </a:pPr>
            <a:r>
              <a:rPr lang="en-US" sz="6900" b="1" spc="-150" kern="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connect.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143000" y="4872782"/>
            <a:ext cx="57150" cy="666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B0F5">
                  <a:alpha val="100000"/>
                </a:srgbClr>
              </a:gs>
              <a:gs pos="100000">
                <a:srgbClr val="C4685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409700" y="4848969"/>
            <a:ext cx="24848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Manish Lad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09700" y="5258544"/>
            <a:ext cx="24848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C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 Manager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43000" y="5906244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FB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substack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2514600" y="5906244"/>
            <a:ext cx="3457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6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manishlad.substack.com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6353919"/>
            <a:ext cx="1219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FB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2514600" y="6353919"/>
            <a:ext cx="40862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6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linkedin.com/in/manish-lad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6839694"/>
            <a:ext cx="85863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about AI × product strategy — for builders and leaders.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541919" y="2778919"/>
            <a:ext cx="3771900" cy="377190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762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8619" y="3045619"/>
            <a:ext cx="3238500" cy="32385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55643" y="6779419"/>
            <a:ext cx="334445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CA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CONNECT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755643" y="7155656"/>
            <a:ext cx="33444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7FB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linktr.ee/manishlad</a:t>
            </a:r>
            <a:endParaRPr lang="en-US" sz="2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15011251" y="704850"/>
            <a:ext cx="2152799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2026-08-25T10:21:26Z</dcterms:created>
  <dcterms:modified xsi:type="dcterms:W3CDTF">2026-08-25T10:21:26Z</dcterms:modified>
</cp:coreProperties>
</file>